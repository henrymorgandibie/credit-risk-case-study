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675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286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665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9784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738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905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1789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7358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155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9453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5322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0568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5143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9800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3902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7737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968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732AD7-F58B-4A75-893B-5A7370EE853D}" type="datetimeFigureOut">
              <a:rPr lang="en-CA" smtClean="0"/>
              <a:t>2026-01-09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32C0B03-D39E-4D19-BCFB-FE436669DE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75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B4E0F-3E00-6A5B-0AD8-01881D8F89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Strategic Risk Management &amp; Operational Intelligence</a:t>
            </a:r>
            <a:endParaRPr lang="en-CA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F4238-0D55-CC63-C0C7-4973CC7D9C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Balancing Capital Preservation with Sustainable Growth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9EB14-071C-F5D1-7FE4-2FB469D69E23}"/>
              </a:ext>
            </a:extLst>
          </p:cNvPr>
          <p:cNvSpPr txBox="1"/>
          <p:nvPr/>
        </p:nvSpPr>
        <p:spPr>
          <a:xfrm>
            <a:off x="5190186" y="5384801"/>
            <a:ext cx="63128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we use data-driven decisioning to reduce financial loss, automate customer approvals, and optimize our physical assets.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Henry Dibie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27822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C668-3E15-B597-8AFA-D90BE27C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156448"/>
            <a:ext cx="10416335" cy="699247"/>
          </a:xfrm>
        </p:spPr>
        <p:txBody>
          <a:bodyPr>
            <a:noAutofit/>
          </a:bodyPr>
          <a:lstStyle/>
          <a:p>
            <a:r>
              <a:rPr lang="en-CA" sz="4000" b="1" dirty="0"/>
              <a:t>Identifying Our Risk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CEE09-3974-5B04-CEB2-B19C985BB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0" y="1855695"/>
            <a:ext cx="5199529" cy="5002305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GB" sz="3000" dirty="0"/>
              <a:t>What Determines a High-Risk Borrower?</a:t>
            </a:r>
          </a:p>
          <a:p>
            <a:r>
              <a:rPr lang="en-GB" b="1" dirty="0"/>
              <a:t>Cash Reserves (The Primary Filter):</a:t>
            </a:r>
            <a:r>
              <a:rPr lang="en-GB" dirty="0"/>
              <a:t> Our data shows that the "Checking Balance" is the strongest predictor of success. Borrowers without a cash buffer are significantly more likely to default during minor financial setbacks.</a:t>
            </a:r>
          </a:p>
          <a:p>
            <a:r>
              <a:rPr lang="en-GB" b="1" dirty="0"/>
              <a:t>Loan Exposure:</a:t>
            </a:r>
            <a:r>
              <a:rPr lang="en-GB" dirty="0"/>
              <a:t> We identified that longer-term loans (4+ years) carry a disproportionate amount of risk. The longer the "window of exposure," the higher the probability of a life event (job loss, medical issue) affecting repayment.</a:t>
            </a:r>
          </a:p>
          <a:p>
            <a:r>
              <a:rPr lang="en-GB" b="1" dirty="0"/>
              <a:t>Past Reliability:</a:t>
            </a:r>
            <a:r>
              <a:rPr lang="en-GB" dirty="0"/>
              <a:t> Credit history remains a cornerstone of our model. We prioritize applicants with a proven track record of managing multiple credits over time.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9C5085-A1DC-B2D8-02BC-FF2CABBB0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24" y="2568388"/>
            <a:ext cx="6769744" cy="377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46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4012-0982-1FAD-5B88-8495278E0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024" y="784412"/>
            <a:ext cx="10488705" cy="900953"/>
          </a:xfrm>
        </p:spPr>
        <p:txBody>
          <a:bodyPr>
            <a:normAutofit/>
          </a:bodyPr>
          <a:lstStyle/>
          <a:p>
            <a:r>
              <a:rPr lang="en-GB" sz="4000" b="1" dirty="0"/>
              <a:t>Strategic Balancing (The 10:1 Rule)</a:t>
            </a:r>
            <a:endParaRPr lang="en-CA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39E3E-1D81-2F38-E09B-D8D4CCDAD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4253" y="2272553"/>
            <a:ext cx="5922913" cy="351864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GB" sz="2800" dirty="0"/>
              <a:t>Prioritizing Capital Preservation Over Volume</a:t>
            </a:r>
          </a:p>
          <a:p>
            <a:r>
              <a:rPr lang="en-GB" sz="2200" b="1" dirty="0"/>
              <a:t>The Business Reality:</a:t>
            </a:r>
            <a:r>
              <a:rPr lang="en-GB" sz="2200" dirty="0"/>
              <a:t> In our current economic climate, the financial loss of </a:t>
            </a:r>
            <a:r>
              <a:rPr lang="en-GB" sz="2200" b="1" dirty="0"/>
              <a:t>one default</a:t>
            </a:r>
            <a:r>
              <a:rPr lang="en-GB" sz="2200" dirty="0"/>
              <a:t> is equal to the profit we make from </a:t>
            </a:r>
            <a:r>
              <a:rPr lang="en-GB" sz="2200" b="1" dirty="0"/>
              <a:t>ten successful loans</a:t>
            </a:r>
            <a:r>
              <a:rPr lang="en-GB" sz="2200" dirty="0"/>
              <a:t>.</a:t>
            </a:r>
          </a:p>
          <a:p>
            <a:r>
              <a:rPr lang="en-GB" sz="2000" b="1" dirty="0"/>
              <a:t>Our Decision Strategy:</a:t>
            </a:r>
            <a:r>
              <a:rPr lang="en-GB" sz="2000" dirty="0"/>
              <a:t> To protect the bank’s capital, we have tuned our screening tool to be "conservative.“</a:t>
            </a:r>
          </a:p>
          <a:p>
            <a:r>
              <a:rPr lang="en-GB" sz="2000" b="1" dirty="0"/>
              <a:t>The Result:</a:t>
            </a:r>
            <a:r>
              <a:rPr lang="en-GB" sz="2000" dirty="0"/>
              <a:t> We will intentionally decline "borderline" applicants. While this may slightly reduce total loan volume, it significantly increases the overall profitability and safety of our loan book.</a:t>
            </a:r>
            <a:endParaRPr lang="en-GB" sz="2200" dirty="0"/>
          </a:p>
          <a:p>
            <a:endParaRPr lang="en-CA" sz="28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E31402-F5A5-F902-6071-2FC14C023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0ECDC4-13E6-3987-FAAB-2031EC7B8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1" y="2272554"/>
            <a:ext cx="6116103" cy="335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90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CE27-ABD0-E791-553C-8E9990A45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Safety Net (External Data Integration)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247A3-A34B-1B53-47DA-0F73757A3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dirty="0"/>
              <a:t>Seeing the Full Picture with Bureau Data</a:t>
            </a:r>
          </a:p>
          <a:p>
            <a:r>
              <a:rPr lang="en-GB" sz="2000" b="1" dirty="0"/>
              <a:t>Internal vs. External Risk:</a:t>
            </a:r>
            <a:r>
              <a:rPr lang="en-GB" sz="2000" dirty="0"/>
              <a:t> An applicant may look healthy based on the information they give us, but they may be over-leveraged with other lenders.</a:t>
            </a:r>
            <a:r>
              <a:rPr lang="en-GB" sz="2000" b="1" dirty="0"/>
              <a:t> </a:t>
            </a:r>
          </a:p>
          <a:p>
            <a:r>
              <a:rPr lang="en-GB" sz="2000" b="1" dirty="0"/>
              <a:t>The "Reject Overlay":</a:t>
            </a:r>
            <a:r>
              <a:rPr lang="en-GB" sz="2000" dirty="0"/>
              <a:t> We have integrated external Credit Bureau data to catch "hidden" risks.</a:t>
            </a:r>
          </a:p>
          <a:p>
            <a:r>
              <a:rPr lang="en-GB" sz="2000" b="1" dirty="0"/>
              <a:t>Automated Protection:</a:t>
            </a:r>
            <a:r>
              <a:rPr lang="en-GB" sz="2000" dirty="0"/>
              <a:t> If an applicant’s external record shows a failure rate higher than 30%, our system triggers an </a:t>
            </a:r>
            <a:r>
              <a:rPr lang="en-GB" sz="2000" b="1" dirty="0"/>
              <a:t>Automatic Hard Reject</a:t>
            </a:r>
            <a:r>
              <a:rPr lang="en-GB" sz="2000" dirty="0"/>
              <a:t>, regardless of their internal score. This prevents us from being the "last lender" to a struggling borrower.</a:t>
            </a:r>
          </a:p>
        </p:txBody>
      </p:sp>
    </p:spTree>
    <p:extLst>
      <p:ext uri="{BB962C8B-B14F-4D97-AF65-F5344CB8AC3E}">
        <p14:creationId xmlns:p14="http://schemas.microsoft.com/office/powerpoint/2010/main" val="62575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4A141-E909-3E65-2048-AB3AA892D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30" y="443753"/>
            <a:ext cx="10375704" cy="1371600"/>
          </a:xfrm>
        </p:spPr>
        <p:txBody>
          <a:bodyPr>
            <a:normAutofit/>
          </a:bodyPr>
          <a:lstStyle/>
          <a:p>
            <a:r>
              <a:rPr lang="en-CA" sz="4000" b="1" dirty="0"/>
              <a:t>Operational Intelligence (Mobility Audit)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50BE0-1B31-6CCA-84C8-62E5E219F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6944" y="2474259"/>
            <a:ext cx="6240990" cy="402963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2800" dirty="0"/>
              <a:t>Maximizing Our Physical Asset Performance</a:t>
            </a:r>
          </a:p>
          <a:p>
            <a:r>
              <a:rPr lang="en-GB" sz="2000" b="1" dirty="0"/>
              <a:t>Leisure vs. Utility:</a:t>
            </a:r>
            <a:r>
              <a:rPr lang="en-GB" sz="2000" dirty="0"/>
              <a:t> Our analysis of the bike-hailing data reveals that weekend trips are </a:t>
            </a:r>
            <a:r>
              <a:rPr lang="en-GB" sz="2000" b="1" dirty="0"/>
              <a:t>3x longer</a:t>
            </a:r>
            <a:r>
              <a:rPr lang="en-GB" sz="2000" dirty="0"/>
              <a:t> than weekday commutes. We must shift our fleet to recreational hubs on Fridays to capture this high-revenue demand.</a:t>
            </a:r>
          </a:p>
          <a:p>
            <a:r>
              <a:rPr lang="en-GB" sz="2000" b="1" dirty="0"/>
              <a:t>Predicting Equipment Failure:</a:t>
            </a:r>
            <a:r>
              <a:rPr lang="en-GB" sz="2000" dirty="0"/>
              <a:t> We’ve identified that 2-minute "short-swaps" are a signal of mechanical issues.</a:t>
            </a:r>
          </a:p>
          <a:p>
            <a:r>
              <a:rPr lang="en-GB" sz="2000" b="1" dirty="0"/>
              <a:t>Proactive Maintenance:</a:t>
            </a:r>
            <a:r>
              <a:rPr lang="en-GB" sz="2000" dirty="0"/>
              <a:t> We are implementing a data-driven maintenance flag. This ensures our bikes are safe and available, reducing "lost revenue" from broken equipment during peak periods like September.</a:t>
            </a:r>
            <a:endParaRPr lang="en-CA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F03261-AED8-D77E-F570-99E923E18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66" y="2635624"/>
            <a:ext cx="5583156" cy="347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57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B9AEF-3CCE-0623-B9CB-A445BD5C9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Deployment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17502-BF47-94E8-23DD-CEE4A1A2E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dirty="0"/>
              <a:t>Moving from Analysis to Action</a:t>
            </a:r>
          </a:p>
          <a:p>
            <a:r>
              <a:rPr lang="en-GB" sz="2000" b="1" dirty="0"/>
              <a:t>Immediate Deployment:</a:t>
            </a:r>
            <a:r>
              <a:rPr lang="en-GB" sz="2000" dirty="0"/>
              <a:t> Integrate the new scoring tool into our digital application portal for instant decisioning.</a:t>
            </a:r>
            <a:endParaRPr lang="en-GB" sz="2000" b="1" dirty="0"/>
          </a:p>
          <a:p>
            <a:r>
              <a:rPr lang="en-GB" sz="2000" b="1" dirty="0"/>
              <a:t>Efficiency Gains:</a:t>
            </a:r>
            <a:r>
              <a:rPr lang="en-GB" sz="2000" dirty="0"/>
              <a:t> Automate 80% of approvals/declines, allowing our expert credit officers to focus their time only on complex, high-value cases.</a:t>
            </a:r>
          </a:p>
          <a:p>
            <a:r>
              <a:rPr lang="en-GB" sz="2000" b="1" dirty="0"/>
              <a:t>Continuous Improvement:</a:t>
            </a:r>
            <a:r>
              <a:rPr lang="en-GB" sz="2000" dirty="0"/>
              <a:t> We will perform a quarterly "Health Check" on the model to ensure it adapts to changing market conditions and continues to protect our margins.</a:t>
            </a:r>
            <a:endParaRPr lang="en-CA" sz="2200" dirty="0"/>
          </a:p>
        </p:txBody>
      </p:sp>
    </p:spTree>
    <p:extLst>
      <p:ext uri="{BB962C8B-B14F-4D97-AF65-F5344CB8AC3E}">
        <p14:creationId xmlns:p14="http://schemas.microsoft.com/office/powerpoint/2010/main" val="17168972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53</TotalTime>
  <Words>542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Corbel</vt:lpstr>
      <vt:lpstr>Parallax</vt:lpstr>
      <vt:lpstr>Strategic Risk Management &amp; Operational Intelligence</vt:lpstr>
      <vt:lpstr>Identifying Our Risk Drivers</vt:lpstr>
      <vt:lpstr>Strategic Balancing (The 10:1 Rule)</vt:lpstr>
      <vt:lpstr>The Safety Net (External Data Integration)</vt:lpstr>
      <vt:lpstr>Operational Intelligence (Mobility Audit)</vt:lpstr>
      <vt:lpstr>Deployment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KingHenryMorgan</dc:creator>
  <cp:lastModifiedBy>KingHenryMorgan</cp:lastModifiedBy>
  <cp:revision>1</cp:revision>
  <dcterms:created xsi:type="dcterms:W3CDTF">2026-01-09T18:26:43Z</dcterms:created>
  <dcterms:modified xsi:type="dcterms:W3CDTF">2026-01-09T19:20:22Z</dcterms:modified>
</cp:coreProperties>
</file>